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C3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0" y="164592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C3673"/>
                </a:solidFill>
                <a:latin typeface="Arial"/>
              </a:defRPr>
            </a:pPr>
            <a:r>
              <a:rPr dirty="0"/>
              <a:t>Large Language Models for Clinical Diagnosis</a:t>
            </a:r>
            <a:br>
              <a:rPr dirty="0"/>
            </a:br>
            <a:r>
              <a:rPr dirty="0"/>
              <a:t>and Treatment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840480"/>
            <a:ext cx="6858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Project Omega - Bachelor Semester Project S2 (</a:t>
            </a:r>
            <a:r>
              <a:rPr dirty="0" smtClean="0"/>
              <a:t>2025/</a:t>
            </a:r>
            <a:r>
              <a:rPr lang="tr-TR" dirty="0" smtClean="0"/>
              <a:t>20</a:t>
            </a:r>
            <a:r>
              <a:rPr dirty="0" smtClean="0"/>
              <a:t>26</a:t>
            </a:r>
            <a:r>
              <a:rPr dirty="0"/>
              <a:t>)</a:t>
            </a:r>
            <a:br>
              <a:rPr dirty="0"/>
            </a:br>
            <a:r>
              <a:rPr dirty="0"/>
              <a:t>University of </a:t>
            </a:r>
            <a:r>
              <a:rPr dirty="0" smtClean="0"/>
              <a:t>Luxembourg</a:t>
            </a:r>
            <a:endParaRPr lang="tr-TR" dirty="0" smtClean="0"/>
          </a:p>
          <a:p>
            <a:pPr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/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Can </a:t>
            </a:r>
            <a:r>
              <a:rPr dirty="0" err="1"/>
              <a:t>Yildiz</a:t>
            </a:r>
            <a:r>
              <a:rPr dirty="0"/>
              <a:t>, Nina </a:t>
            </a:r>
            <a:r>
              <a:rPr dirty="0" err="1"/>
              <a:t>Vojtassak</a:t>
            </a:r>
            <a:r>
              <a:rPr dirty="0"/>
              <a:t>, Tuna </a:t>
            </a:r>
            <a:r>
              <a:rPr dirty="0" err="1"/>
              <a:t>Karakus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Introduction: The Clinical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Electronic Health Records (EHR) represent rich, longitudinal medical patient histories.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Generating clinical recommendations (diagnoses, treatments) historically requires years of medical training.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Large Language Models (LLMs) show exceptional performance on multiple-choice benchmarks (e.g., MedQA, USMLE).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However, real clinical workflows are open-ended and safety-critical: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Formulating new differential diagnosis hypotheses.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Proposing detailed treatment plans with dosage recommendation.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Identifying drug interactions and patient safety flags.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Standard multiple-choice tests fail to evaluate this generative complexity.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Project Omega: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Goal: </a:t>
            </a:r>
            <a:r>
              <a:rPr dirty="0"/>
              <a:t>Conduct a systematic comparative study of </a:t>
            </a:r>
            <a:r>
              <a:rPr dirty="0" smtClean="0"/>
              <a:t>open</a:t>
            </a:r>
            <a:r>
              <a:rPr lang="tr-TR" dirty="0" smtClean="0"/>
              <a:t> </a:t>
            </a:r>
            <a:r>
              <a:rPr dirty="0" smtClean="0"/>
              <a:t>weight </a:t>
            </a:r>
            <a:r>
              <a:rPr dirty="0"/>
              <a:t>LLMs on realistic clinical tasks using patient records.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Core Research Question: How do smaller instruction-tuned models compare to larger models when tasked with generating free-form clinical summaries and safety warnings?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Target Models: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LLaMA-3.3-70B-Versatile (Meta) - Accessed via </a:t>
            </a:r>
            <a:r>
              <a:rPr dirty="0" err="1"/>
              <a:t>Groq</a:t>
            </a:r>
            <a:r>
              <a:rPr dirty="0"/>
              <a:t> API.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Gemma-4-31B-IT (Google) - Accessed via Google Generative AI API.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Evaluation Method: </a:t>
            </a:r>
            <a:r>
              <a:rPr dirty="0"/>
              <a:t>Build a Python-based pipeline to process clinical data, query models, and run automated evaluations.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Methodology: Dataset &amp; Patient Cohort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7240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Clinical Database: </a:t>
            </a:r>
            <a:r>
              <a:rPr dirty="0"/>
              <a:t>MIMIC-IV (version 3.1), covering patient admissions from 2008 to 2019.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Cohort Selection: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Random sample of 2,000 critically ill patient admissions (seeded shuffle for exact reproducibility).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Selected cohort IDs persisted to disk.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Patient Eligibility Criteria: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Must contain at least one ICD-coded diagnosis.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Must contain at least one lab measurement event.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Must contain at least one prescription record.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Database Engine: </a:t>
            </a:r>
            <a:r>
              <a:rPr dirty="0"/>
              <a:t>Locally indexed using </a:t>
            </a:r>
            <a:r>
              <a:rPr dirty="0" err="1"/>
              <a:t>DuckDB</a:t>
            </a:r>
            <a:r>
              <a:rPr dirty="0"/>
              <a:t> to optimize query performance and memory footprint.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Methodology: Pipeline &amp; Prompts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35086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sz="2000" b="1" dirty="0" smtClean="0"/>
              <a:t>Two</a:t>
            </a:r>
            <a:r>
              <a:rPr lang="tr-TR" sz="2000" b="1" dirty="0" smtClean="0"/>
              <a:t> </a:t>
            </a:r>
            <a:r>
              <a:rPr sz="2000" b="1" dirty="0" smtClean="0"/>
              <a:t>Phase </a:t>
            </a:r>
            <a:r>
              <a:rPr sz="2000" b="1" dirty="0"/>
              <a:t>Data Loading to maintain a constant memory profile: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Phase 1</a:t>
            </a:r>
            <a:r>
              <a:rPr dirty="0"/>
              <a:t>: Retrieve cohort demographics and ICD codes.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Phase 2</a:t>
            </a:r>
            <a:r>
              <a:rPr dirty="0"/>
              <a:t>: Load batch-wise clinical details (vitals, labs, procedures, cultures).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Prompt Structure (8 Sections):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Demographics, Diagnoses, Laboratory Results (15 recent), ICU Vitals, Vital Signs/Anthropometrics, Procedures, Microbiology Results, ICU Stay Duration.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b="1" dirty="0"/>
              <a:t>Output Format Constraint: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rPr dirty="0"/>
              <a:t>Models forced to respond in 4 sections: (1) Additional Diagnosis Hypotheses, (2) Proposed Treatments (Drugs/Doses), (3) Safety Flags/Contraindications, (4) Confidence Level.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Evaluation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3550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sz="2000" b="1" dirty="0"/>
              <a:t>Traditional Lexical Metrics: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BLEU and ROUGE-1/2/L computed against the ground-truth ICD-coded diagnosis list.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sz="2000" b="1" dirty="0"/>
              <a:t>Pharmacological Accuracy (Drug Overlap):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Fuzzy string matching (</a:t>
            </a:r>
            <a:r>
              <a:rPr dirty="0" err="1"/>
              <a:t>difflib</a:t>
            </a:r>
            <a:r>
              <a:rPr dirty="0"/>
              <a:t>, threshold &gt;= 0.75) comparing model-recommended medications to actual clinical prescriptions.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Clinical Quality (LLM-as-Judge):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GPT-OSS 120B evaluator scoring both outputs on four clinical dimensions (1 to 25 points each):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    1. Clinical Accuracy (correctness of hypotheses and drug choices).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    2. Completeness (coverage of clinical context).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    3. Safety (identification of interactions and contraindications).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    4. Practical Usefulness (clarity, structure, and clinical </a:t>
            </a:r>
            <a:r>
              <a:rPr dirty="0" err="1"/>
              <a:t>actionability</a:t>
            </a:r>
            <a:r>
              <a:rPr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shboard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968" y="1024128"/>
            <a:ext cx="7062032" cy="392531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Results: Verbosity &amp; Drug Overlap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184" y="1463040"/>
            <a:ext cx="5486400" cy="489364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endParaRPr lang="tr-TR" dirty="0" smtClean="0"/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endParaRPr lang="tr-TR" dirty="0"/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sz="2000" b="1" dirty="0" smtClean="0"/>
              <a:t>Pronounced </a:t>
            </a:r>
            <a:r>
              <a:rPr sz="2000" b="1" dirty="0"/>
              <a:t>Difference in Verbosity: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b="1" dirty="0"/>
              <a:t>LLaMA-70B</a:t>
            </a:r>
            <a:r>
              <a:rPr dirty="0"/>
              <a:t>: Highly concise, direct (median ~2,100 characters).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b="1" dirty="0"/>
              <a:t>Gemma-31B</a:t>
            </a:r>
            <a:r>
              <a:rPr dirty="0"/>
              <a:t>: Comprehensive, detailed </a:t>
            </a:r>
            <a:r>
              <a:rPr dirty="0" smtClean="0"/>
              <a:t>(median ~4,500 </a:t>
            </a:r>
            <a:r>
              <a:rPr dirty="0"/>
              <a:t>characters).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b="1" dirty="0"/>
              <a:t>Drug Overlap</a:t>
            </a:r>
            <a:r>
              <a:rPr dirty="0"/>
              <a:t>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Both models show modest drug overlap with true prescriptions (median 2 drugs, &lt;10% recall).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Reflects the difficulty of predicting exact treatment regimes from raw ICD codes alone.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rPr dirty="0"/>
              <a:t>Gemma shows slightly wider distribution at upper quartiles, capturing more secondary medications.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Results: The 'Brevity Effect'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Paradoxical Lexical Results: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LLaMA-3.3-70B achieves higher median BLEU (0.052 vs 0.018) and ROUGE-1 (0.220 vs 0.121).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The 'Brevity Effect' Explanation: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The ground-truth reference is a concise list of ICD diagnoses.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LLaMA's shorter, diagnosis-centric output contains a higher density of ICD terms, boosting precision.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Gemma's comprehensive output contains treatment plans, safety flags, and rationales.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The extra clinical details 'dilute' Gemma's n-gram scores, causing severe penalty.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Conclusion: Standard n-gram metrics (BLEU, ROUGE) are inherently biased against detailed clinical summaries.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shboard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9135" y="1728216"/>
            <a:ext cx="8061024" cy="240487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Results: Clinical Quality (LLM-as-Judge)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4864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Head-to-Head Preference: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Gemma-4-31B-IT wins 97.9% of evaluations (1,959 wins).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LLaMA-3.3-70B wins 1.9% (38 wins).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3 cases result in a tie.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Total Evaluator Scores (out of 100):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Gemma-31B: Median score of 75%.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LLaMA-70B: Median score of 50%.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The evaluator strongly prefers Gemma's detailed explanations, safety flag sections, and structured reasoning.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dashboard_par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228" y="1115567"/>
            <a:ext cx="7613437" cy="412394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Results: Subscores &amp; Temperature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15468" y="1865376"/>
            <a:ext cx="5303520" cy="36933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Quality Dimensions (Gemma vs </a:t>
            </a:r>
            <a:r>
              <a:rPr dirty="0" err="1"/>
              <a:t>LLaMA</a:t>
            </a:r>
            <a:r>
              <a:rPr dirty="0"/>
              <a:t>):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Accuracy: Gemma 85% vs </a:t>
            </a:r>
            <a:r>
              <a:rPr dirty="0" err="1"/>
              <a:t>LLaMA</a:t>
            </a:r>
            <a:r>
              <a:rPr dirty="0"/>
              <a:t> 65%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Completeness: Gemma 80% vs </a:t>
            </a:r>
            <a:r>
              <a:rPr dirty="0" err="1"/>
              <a:t>LLaMA</a:t>
            </a:r>
            <a:r>
              <a:rPr dirty="0"/>
              <a:t> 48%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Safety: Gemma 85% vs </a:t>
            </a:r>
            <a:r>
              <a:rPr dirty="0" err="1"/>
              <a:t>LLaMA</a:t>
            </a:r>
            <a:r>
              <a:rPr dirty="0"/>
              <a:t> 56%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Usefulness: Gemma 82% vs </a:t>
            </a:r>
            <a:r>
              <a:rPr dirty="0" err="1"/>
              <a:t>LLaMA</a:t>
            </a:r>
            <a:r>
              <a:rPr dirty="0"/>
              <a:t> 48%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Temperature Robustness (Gemma, n=1,000):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Tested across T = 0.1, 0.5, and 1.0.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Lexical metrics remain highly stable.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Indicates Gemma's clinical reasoning is </a:t>
            </a:r>
            <a:r>
              <a:rPr dirty="0" smtClean="0"/>
              <a:t>robust </a:t>
            </a:r>
            <a:r>
              <a:rPr dirty="0"/>
              <a:t>to decoding temperature variations.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Explainability: LIME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im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1225296"/>
            <a:ext cx="7863840" cy="488337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20040" y="1463040"/>
            <a:ext cx="4023360" cy="41242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b="1" dirty="0"/>
              <a:t>Global Feature Importance: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Perturbed prompt tokens by masking subsets to measure lexical output changes.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Both models anchor heavily on Diagnoses and Lab Results sections.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Confirms models focus on relevant clinical context rather than demographics.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b="1" dirty="0"/>
              <a:t>Attention Distribution: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 err="1"/>
              <a:t>LLaMA</a:t>
            </a:r>
            <a:r>
              <a:rPr dirty="0"/>
              <a:t> is highly sensitive to primary diagnoses.</a:t>
            </a:r>
          </a:p>
          <a:p>
            <a:pPr>
              <a:spcAft>
                <a:spcPts val="1200"/>
              </a:spcAft>
              <a:defRPr sz="1600">
                <a:solidFill>
                  <a:srgbClr val="3C3C3C"/>
                </a:solidFill>
                <a:latin typeface="Arial"/>
              </a:defRPr>
            </a:pPr>
            <a:r>
              <a:rPr dirty="0"/>
              <a:t>Gemma distributes influence across labs, diagnoses, and vitals, mirroring its comprehensive synthesis style.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Discussion &amp; Key 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Traditional Metrics are Flawed for Generative Clinical Tasks: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BLEU and ROUGE are biased towards conciseness and fail to assess safety, correctness, or clinical utility.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Value of Model Verbosity: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Gemma-31B's longer output is not 'fluff'; it contains critical clinical details, safety flags, and treatment justifications that make it more useful.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LLM-as-Judge is Crucial:</a:t>
            </a:r>
          </a:p>
          <a:p>
            <a:pPr>
              <a:spcAft>
                <a:spcPts val="1200"/>
              </a:spcAft>
              <a:defRPr sz="1800">
                <a:solidFill>
                  <a:srgbClr val="3C3C3C"/>
                </a:solidFill>
                <a:latin typeface="Arial"/>
              </a:defRPr>
            </a:pPr>
            <a:r>
              <a:t>Standardizing multi-dimensional autonomous evaluation helps capture nuance where traditional metrics fail.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C3673"/>
                </a:solidFill>
                <a:latin typeface="Arial"/>
              </a:defRPr>
            </a:pPr>
            <a:r>
              <a:t>Limitations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0698480" cy="18288"/>
          </a:xfrm>
          <a:prstGeom prst="rect">
            <a:avLst/>
          </a:prstGeom>
          <a:solidFill>
            <a:srgbClr val="1C3673"/>
          </a:solidFill>
          <a:ln>
            <a:solidFill>
              <a:srgbClr val="1C3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Limitations: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Lexical Proxy: LIME setup measures lexical output similarity, not true causal clinical reasoning.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Evaluator Bias: Autonomous evaluator (GPT-OSS) could potentially have a slight preference for longer, structured outputs.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Single Site: Dataset is limited to a single medical center (MIMIC-IV, Boston).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Future Work: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Human Expert Validation: Clinician reviews to correlate autonomous scores with human judgment.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Diverse Datasets: Test generalization on contemporary and multi-institutional data.</a:t>
            </a:r>
          </a:p>
          <a:p>
            <a:pPr>
              <a:spcAft>
                <a:spcPts val="1200"/>
              </a:spcAft>
              <a:defRPr sz="1700">
                <a:solidFill>
                  <a:srgbClr val="3C3C3C"/>
                </a:solidFill>
                <a:latin typeface="Arial"/>
              </a:defRPr>
            </a:pPr>
            <a:r>
              <a:t>Semantic Attribution: Apply gradient-based interpretability methods.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6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Arial"/>
              </a:defRPr>
            </a:pPr>
            <a:r>
              <a:rPr dirty="0"/>
              <a:t>Thank You</a:t>
            </a:r>
          </a:p>
          <a:p>
            <a:pPr algn="l">
              <a:spcBef>
                <a:spcPts val="2000"/>
              </a:spcBef>
              <a:defRPr sz="2800">
                <a:solidFill>
                  <a:srgbClr val="FFFFFF"/>
                </a:solidFill>
                <a:latin typeface="Arial"/>
              </a:defRPr>
            </a:pPr>
            <a:r>
              <a:rPr dirty="0"/>
              <a:t>Questions </a:t>
            </a:r>
            <a:r>
              <a:rPr lang="tr-TR" dirty="0" err="1" smtClean="0"/>
              <a:t>and</a:t>
            </a:r>
            <a:r>
              <a:rPr dirty="0" smtClean="0"/>
              <a:t> </a:t>
            </a:r>
            <a:r>
              <a:rPr dirty="0"/>
              <a:t>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1111</Words>
  <Application>Microsoft Office PowerPoint</Application>
  <PresentationFormat>Geniş ekran</PresentationFormat>
  <Paragraphs>112</Paragraphs>
  <Slides>14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subject/>
  <dc:creator/>
  <cp:keywords/>
  <dc:description>generated using python-pptx</dc:description>
  <cp:lastModifiedBy>Can</cp:lastModifiedBy>
  <cp:revision>3</cp:revision>
  <dcterms:created xsi:type="dcterms:W3CDTF">2013-01-27T09:14:16Z</dcterms:created>
  <dcterms:modified xsi:type="dcterms:W3CDTF">2026-06-28T14:25:18Z</dcterms:modified>
  <cp:category/>
</cp:coreProperties>
</file>